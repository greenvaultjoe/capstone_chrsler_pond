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603505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01">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01"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831585" y="685800"/>
            <a:ext cx="5195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96025b941c_0_0:notes"/>
          <p:cNvSpPr/>
          <p:nvPr>
            <p:ph idx="2" type="sldImg"/>
          </p:nvPr>
        </p:nvSpPr>
        <p:spPr>
          <a:xfrm>
            <a:off x="831582" y="685800"/>
            <a:ext cx="51957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96025b94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873636"/>
            <a:ext cx="8520600" cy="2408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325379"/>
            <a:ext cx="8520600" cy="930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5471517"/>
            <a:ext cx="548700" cy="461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523668"/>
            <a:ext cx="8520600" cy="98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5471517"/>
            <a:ext cx="548700" cy="461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22164"/>
            <a:ext cx="8520600" cy="672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352240"/>
            <a:ext cx="8520600" cy="4008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5471517"/>
            <a:ext cx="548700" cy="461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22164"/>
            <a:ext cx="8520600" cy="672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352240"/>
            <a:ext cx="3999900" cy="4008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352240"/>
            <a:ext cx="3999900" cy="4008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5471517"/>
            <a:ext cx="548700" cy="461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22164"/>
            <a:ext cx="8520600" cy="672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5471517"/>
            <a:ext cx="548700" cy="461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651905"/>
            <a:ext cx="2808000" cy="8865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630467"/>
            <a:ext cx="2808000" cy="3730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5471517"/>
            <a:ext cx="548700" cy="461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528177"/>
            <a:ext cx="6367800" cy="48000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5471517"/>
            <a:ext cx="548700" cy="461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47"/>
            <a:ext cx="4572000" cy="6035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446928"/>
            <a:ext cx="4045200" cy="1739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288947"/>
            <a:ext cx="4045200" cy="1449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849583"/>
            <a:ext cx="3837000" cy="43356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5471517"/>
            <a:ext cx="548700" cy="461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963883"/>
            <a:ext cx="5998800" cy="709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5471517"/>
            <a:ext cx="548700" cy="461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297855"/>
            <a:ext cx="8520600" cy="23037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698617"/>
            <a:ext cx="8520600" cy="15261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5471517"/>
            <a:ext cx="548700" cy="461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5471517"/>
            <a:ext cx="548700" cy="461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22164"/>
            <a:ext cx="8520600" cy="672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352240"/>
            <a:ext cx="8520600" cy="40086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5471517"/>
            <a:ext cx="548700" cy="461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C5E8"/>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2100550" y="714943"/>
            <a:ext cx="5153273" cy="2663413"/>
          </a:xfrm>
          <a:prstGeom prst="rect">
            <a:avLst/>
          </a:prstGeom>
          <a:noFill/>
          <a:ln>
            <a:noFill/>
          </a:ln>
        </p:spPr>
      </p:pic>
      <p:pic>
        <p:nvPicPr>
          <p:cNvPr id="55" name="Google Shape;55;p13"/>
          <p:cNvPicPr preferRelativeResize="0"/>
          <p:nvPr/>
        </p:nvPicPr>
        <p:blipFill>
          <a:blip r:embed="rId4">
            <a:alphaModFix/>
          </a:blip>
          <a:stretch>
            <a:fillRect/>
          </a:stretch>
        </p:blipFill>
        <p:spPr>
          <a:xfrm>
            <a:off x="4650113" y="3480464"/>
            <a:ext cx="2603712" cy="1667949"/>
          </a:xfrm>
          <a:prstGeom prst="rect">
            <a:avLst/>
          </a:prstGeom>
          <a:noFill/>
          <a:ln>
            <a:noFill/>
          </a:ln>
        </p:spPr>
      </p:pic>
      <p:sp>
        <p:nvSpPr>
          <p:cNvPr id="56" name="Google Shape;56;p13"/>
          <p:cNvSpPr txBox="1"/>
          <p:nvPr/>
        </p:nvSpPr>
        <p:spPr>
          <a:xfrm>
            <a:off x="685200" y="0"/>
            <a:ext cx="7773600" cy="6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Does EMF Technology Suppress Harmful Algal Blooms?</a:t>
            </a:r>
            <a:endParaRPr sz="1600">
              <a:solidFill>
                <a:schemeClr val="dk1"/>
              </a:solidFill>
            </a:endParaRPr>
          </a:p>
          <a:p>
            <a:pPr indent="0" lvl="0" marL="0" rtl="0" algn="ctr">
              <a:spcBef>
                <a:spcPts val="0"/>
              </a:spcBef>
              <a:spcAft>
                <a:spcPts val="0"/>
              </a:spcAft>
              <a:buNone/>
            </a:pPr>
            <a:r>
              <a:rPr i="1" lang="en" sz="1200">
                <a:solidFill>
                  <a:schemeClr val="dk1"/>
                </a:solidFill>
              </a:rPr>
              <a:t>A Satellite-Based Assessment of Chrysler Pond</a:t>
            </a:r>
            <a:endParaRPr i="1" sz="1200">
              <a:solidFill>
                <a:schemeClr val="dk1"/>
              </a:solidFill>
            </a:endParaRPr>
          </a:p>
        </p:txBody>
      </p:sp>
      <p:sp>
        <p:nvSpPr>
          <p:cNvPr id="57" name="Google Shape;57;p13"/>
          <p:cNvSpPr txBox="1"/>
          <p:nvPr/>
        </p:nvSpPr>
        <p:spPr>
          <a:xfrm>
            <a:off x="2950" y="714943"/>
            <a:ext cx="2097600" cy="372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u="sng">
                <a:solidFill>
                  <a:schemeClr val="dk1"/>
                </a:solidFill>
              </a:rPr>
              <a:t>Purpose:</a:t>
            </a:r>
            <a:endParaRPr b="1" sz="1100" u="sng">
              <a:solidFill>
                <a:schemeClr val="dk2"/>
              </a:solidFill>
            </a:endParaRPr>
          </a:p>
          <a:p>
            <a:pPr indent="0" lvl="0" marL="0" rtl="0" algn="ctr">
              <a:spcBef>
                <a:spcPts val="0"/>
              </a:spcBef>
              <a:spcAft>
                <a:spcPts val="0"/>
              </a:spcAft>
              <a:buNone/>
            </a:pPr>
            <a:r>
              <a:rPr lang="en" sz="1100">
                <a:solidFill>
                  <a:schemeClr val="dk1"/>
                </a:solidFill>
              </a:rPr>
              <a:t>Harmful algal blooms (HABs) pose serious threats to freshwater ecosystems and public health. Since 2022, an electromagnetic frequency (EMF) device has been seasonally deployed at Chrysler Pond, NY with the goal of suppressing bloom formation. This project uses 8 years of Sentinel-2 satellite imagery to independently evaluate whether measurable changes in water quality followed the device's deployment.</a:t>
            </a:r>
            <a:endParaRPr sz="1100">
              <a:solidFill>
                <a:schemeClr val="dk1"/>
              </a:solidFill>
            </a:endParaRPr>
          </a:p>
        </p:txBody>
      </p:sp>
      <p:sp>
        <p:nvSpPr>
          <p:cNvPr id="58" name="Google Shape;58;p13"/>
          <p:cNvSpPr txBox="1"/>
          <p:nvPr/>
        </p:nvSpPr>
        <p:spPr>
          <a:xfrm>
            <a:off x="7253825" y="714943"/>
            <a:ext cx="1890300" cy="3500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u="sng">
                <a:solidFill>
                  <a:schemeClr val="dk1"/>
                </a:solidFill>
              </a:rPr>
              <a:t>NDCI Time Series</a:t>
            </a:r>
            <a:endParaRPr sz="1100">
              <a:solidFill>
                <a:schemeClr val="dk1"/>
              </a:solidFill>
            </a:endParaRPr>
          </a:p>
          <a:p>
            <a:pPr indent="0" lvl="0" marL="0" rtl="0" algn="ctr">
              <a:spcBef>
                <a:spcPts val="0"/>
              </a:spcBef>
              <a:spcAft>
                <a:spcPts val="0"/>
              </a:spcAft>
              <a:buNone/>
            </a:pPr>
            <a:r>
              <a:rPr lang="en" sz="1100">
                <a:solidFill>
                  <a:schemeClr val="dk1"/>
                </a:solidFill>
              </a:rPr>
              <a:t>The Normalized Difference Chlorophyll Index (NDCI) measures algal chlorophyll concentration using Sentinel-2 Band 5 and Band 4 reflectance. Values above 0.1 indicate active bloom conditions.Across 95 cloud-filtered scenes from 2017–2025, post-intervention years show a higher frequency of scenes exceeding the bloom threshold (16 vs. 5 pre-intervention).</a:t>
            </a:r>
            <a:endParaRPr sz="1100">
              <a:solidFill>
                <a:schemeClr val="dk1"/>
              </a:solidFill>
            </a:endParaRPr>
          </a:p>
        </p:txBody>
      </p:sp>
      <p:sp>
        <p:nvSpPr>
          <p:cNvPr id="59" name="Google Shape;59;p13"/>
          <p:cNvSpPr txBox="1"/>
          <p:nvPr/>
        </p:nvSpPr>
        <p:spPr>
          <a:xfrm>
            <a:off x="2100550" y="3378351"/>
            <a:ext cx="2472300" cy="166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Visible Greenness</a:t>
            </a:r>
            <a:endParaRPr sz="1100">
              <a:solidFill>
                <a:schemeClr val="dk1"/>
              </a:solidFill>
            </a:endParaRPr>
          </a:p>
          <a:p>
            <a:pPr indent="0" lvl="0" marL="0" rtl="0" algn="l">
              <a:spcBef>
                <a:spcPts val="0"/>
              </a:spcBef>
              <a:spcAft>
                <a:spcPts val="0"/>
              </a:spcAft>
              <a:buNone/>
            </a:pPr>
            <a:r>
              <a:rPr lang="en" sz="1100">
                <a:solidFill>
                  <a:schemeClr val="dk1"/>
                </a:solidFill>
              </a:rPr>
              <a:t>The green band ratio measures the proportion of visible green light reflected from the water surface, a direct indicator of algal tinting visible to the naked eye. The post-2022 period shows both an elevated mean and an upward trend in greenness, supported by the NDCI findings.</a:t>
            </a:r>
            <a:endParaRPr sz="1100">
              <a:solidFill>
                <a:schemeClr val="dk1"/>
              </a:solidFill>
            </a:endParaRPr>
          </a:p>
        </p:txBody>
      </p:sp>
      <p:sp>
        <p:nvSpPr>
          <p:cNvPr id="60" name="Google Shape;60;p13"/>
          <p:cNvSpPr txBox="1"/>
          <p:nvPr/>
        </p:nvSpPr>
        <p:spPr>
          <a:xfrm>
            <a:off x="245225" y="5121225"/>
            <a:ext cx="8721900" cy="85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u="sng">
                <a:solidFill>
                  <a:schemeClr val="dk1"/>
                </a:solidFill>
              </a:rPr>
              <a:t>Overall Findings:</a:t>
            </a:r>
            <a:endParaRPr b="1" sz="1100" u="sng">
              <a:solidFill>
                <a:schemeClr val="dk1"/>
              </a:solidFill>
            </a:endParaRPr>
          </a:p>
          <a:p>
            <a:pPr indent="0" lvl="0" marL="0" rtl="0" algn="ctr">
              <a:spcBef>
                <a:spcPts val="0"/>
              </a:spcBef>
              <a:spcAft>
                <a:spcPts val="0"/>
              </a:spcAft>
              <a:buNone/>
            </a:pPr>
            <a:r>
              <a:rPr lang="en" sz="1100">
                <a:solidFill>
                  <a:schemeClr val="dk1"/>
                </a:solidFill>
              </a:rPr>
              <a:t>Both satellite metrics indicate elevated algal activity in the post-intervention period. While 2022 and 2025 show encouraging low values, 2024 was the worst bloom year from the period observed. Weather alone (temp r=0.53, p=0.14) does not fully explain the anomaly. Satellite evidence is insufficient to confirm device efficacy. Longer monitoring and controlled comparison are warranted.</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